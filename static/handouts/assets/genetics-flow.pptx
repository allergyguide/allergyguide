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78240"/>
  </p:normalViewPr>
  <p:slideViewPr>
    <p:cSldViewPr snapToGrid="0">
      <p:cViewPr varScale="1">
        <p:scale>
          <a:sx n="85" d="100"/>
          <a:sy n="85" d="100"/>
        </p:scale>
        <p:origin x="1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51B99-635A-324A-A1E1-D37B084F752D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86B33-F977-1849-9393-775CD577E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59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 shelf, two rows</a:t>
            </a:r>
          </a:p>
          <a:p>
            <a:r>
              <a:rPr lang="en-US" dirty="0"/>
              <a:t>Different </a:t>
            </a:r>
            <a:r>
              <a:rPr lang="en-US" dirty="0" err="1"/>
              <a:t>colours</a:t>
            </a:r>
            <a:endParaRPr lang="en-US" dirty="0"/>
          </a:p>
          <a:p>
            <a:r>
              <a:rPr lang="en-US" dirty="0"/>
              <a:t>Add genetic code</a:t>
            </a:r>
          </a:p>
          <a:p>
            <a:r>
              <a:rPr lang="en-US" dirty="0"/>
              <a:t>Protein – food instead?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86B33-F977-1849-9393-775CD577E4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07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8C22-98AB-FAA1-7CF9-69E9F8ED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3657C-69CE-8BC0-DE66-BCE7DB50E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D5E84-B640-EE47-9246-49E644BE9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 shelf, two rows</a:t>
            </a:r>
          </a:p>
          <a:p>
            <a:r>
              <a:rPr lang="en-US" dirty="0"/>
              <a:t>Different </a:t>
            </a:r>
            <a:r>
              <a:rPr lang="en-US" dirty="0" err="1"/>
              <a:t>colours</a:t>
            </a:r>
            <a:endParaRPr lang="en-US" dirty="0"/>
          </a:p>
          <a:p>
            <a:r>
              <a:rPr lang="en-US" dirty="0"/>
              <a:t>Add genetic code</a:t>
            </a:r>
          </a:p>
          <a:p>
            <a:r>
              <a:rPr lang="en-US" dirty="0"/>
              <a:t>Protein – food instead?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C764-153C-3EC4-D051-0225E1557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86B33-F977-1849-9393-775CD577E4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54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EA1D-17B6-2131-DF6C-A9D6EB324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B581D-B4BA-8B0E-4DB1-301295785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B6579-04DA-3BCE-042D-1D1CFF4F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4C94A-9473-B4C9-95C2-97F3BA41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EEEE0-95D9-47AC-98B1-73FAD805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5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4AF6-4789-BABF-7F68-8E31B00F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5FA8-3B13-1AF7-187D-A44C630CC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33ADF-5D87-7E48-C57E-1BBBF9D5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72A64-4783-BBFD-6ABF-47673C6F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C1925-55A9-2E69-F088-893DA4D4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DA7B-0B71-991F-D12F-E9963241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47261-6BF7-F2F7-AD53-37A94CB1E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97F0E-897E-6184-1B7E-7A7624CC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A82E1-BE52-217E-2252-E4078C87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4F090-C6A0-E6B5-DF5A-724E4B9F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9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69E8-DAE0-D18D-FAF6-C7827308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6D262-E7B2-FF4A-C515-2FC163503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DBBE6-6BB0-3A43-C011-807DC683F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A230F-3C40-B812-57D7-6BD171C8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84634-BD7D-F543-AF8F-AF2A18EE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42383-E891-F866-BB80-1CE51F90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7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08BF-0B3D-7E62-96B0-D6CE3648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361E0-F74A-2D38-FE14-AACD695A0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5B4E0-41F4-6CB1-86C0-87D121EEF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0FB68-23AD-5564-67E5-FEDC78AD6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BCBFC-5E8B-8B98-8DFB-BF9711889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09296-00CC-22F5-0938-DBDA995D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14E43-EC72-DE00-D32D-B269017E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77C118-E2CE-B874-237D-E24AAAC8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93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BDDD4-CD4C-E31A-CAA5-BAE93315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E2814-F2F9-40C2-A196-8ECE47BD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12187-78AE-66F5-CD9B-59D7157D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52321-077C-0ED3-4512-0B3E8616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3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DBA3C-65A5-1747-A6CB-471D8E8C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9A9F1-FD66-31E5-BF68-EAABF043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B6A94-C525-6D78-382B-A2F9D917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6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C3464-81F4-E1DE-6878-2FEA33D5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298E3-CE84-FE3D-01A2-04F4188D4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B9ABA-6D73-0270-E481-A0699789B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A1869-EFA5-7B03-D4A0-AD91D3FD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63FB7-E500-42EF-E105-37E19C0B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B6ECE-A5E3-E289-541B-98FFDB9C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1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98A1-C27F-EF14-68B1-A85545AF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72764-43BB-EE84-CE2A-AF9139D74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F5510-DDB4-D4F4-D5AC-2F308C88A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F485D-E411-0435-1E64-B09199B5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08781-7161-F546-D559-98DDFF91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E8105-DC33-9646-4587-CFF26749D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3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F1E0-26F0-884E-67A7-F494BB1F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81D7A-F958-3D9D-578C-067193B0E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1AAA9-64FA-DCA3-63F8-1C9FA5B9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34DEA-3E2E-78C3-BB3B-C91E4D64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B5185-59FA-64B0-02C9-890D4E8A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0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2E0F8-4F31-9CA5-03AC-AD91537E4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5469D-43E5-CE32-B5C6-7E7C6F039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69D3A-F5F4-BE79-BD72-201CE15F0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56C5-05C1-7956-CE74-06F6DB55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9CD99-6D97-4393-BBF8-0BA481F2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1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415F0-D949-B464-2B20-705E2388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EFAB8-AE31-CEBB-9BF5-D91DDC4C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FA582-DD4D-4858-E22E-0BC670E23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23CFB-3208-5E47-83A2-E934C12567F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42FC-4FA5-50A7-B472-7A315CCDD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ED40-08CE-965B-0584-6883BD16B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391C7-6766-6B4D-8AF1-CC35A299B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7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5.png"/><Relationship Id="rId1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9.png"/><Relationship Id="rId5" Type="http://schemas.openxmlformats.org/officeDocument/2006/relationships/image" Target="../media/image19.png"/><Relationship Id="rId15" Type="http://schemas.openxmlformats.org/officeDocument/2006/relationships/image" Target="../media/image11.png"/><Relationship Id="rId10" Type="http://schemas.openxmlformats.org/officeDocument/2006/relationships/image" Target="../media/image8.svg"/><Relationship Id="rId4" Type="http://schemas.openxmlformats.org/officeDocument/2006/relationships/image" Target="../media/image18.svg"/><Relationship Id="rId9" Type="http://schemas.openxmlformats.org/officeDocument/2006/relationships/image" Target="../media/image7.png"/><Relationship Id="rId1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05150D9-4A9A-BC7A-E735-1540D52C0771}"/>
              </a:ext>
            </a:extLst>
          </p:cNvPr>
          <p:cNvGrpSpPr/>
          <p:nvPr/>
        </p:nvGrpSpPr>
        <p:grpSpPr>
          <a:xfrm>
            <a:off x="745189" y="2548640"/>
            <a:ext cx="2705549" cy="2679805"/>
            <a:chOff x="1508981" y="2301835"/>
            <a:chExt cx="2170135" cy="214948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E336737-B880-ADAD-AB60-46308F62C1D8}"/>
                </a:ext>
              </a:extLst>
            </p:cNvPr>
            <p:cNvGrpSpPr/>
            <p:nvPr/>
          </p:nvGrpSpPr>
          <p:grpSpPr>
            <a:xfrm>
              <a:off x="1508981" y="3192183"/>
              <a:ext cx="2170135" cy="1259139"/>
              <a:chOff x="798976" y="810721"/>
              <a:chExt cx="4902577" cy="2844535"/>
            </a:xfrm>
          </p:grpSpPr>
          <p:pic>
            <p:nvPicPr>
              <p:cNvPr id="5" name="Graphic 4">
                <a:extLst>
                  <a:ext uri="{FF2B5EF4-FFF2-40B4-BE49-F238E27FC236}">
                    <a16:creationId xmlns:a16="http://schemas.microsoft.com/office/drawing/2014/main" id="{69A0A44A-2F32-04E7-3A14-2FDD215587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57018" y="810721"/>
                <a:ext cx="2844535" cy="2844535"/>
              </a:xfrm>
              <a:prstGeom prst="rect">
                <a:avLst/>
              </a:prstGeom>
            </p:spPr>
          </p:pic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9431A405-FF0E-2F88-7D1B-2934F6CD4A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8976" y="891262"/>
                <a:ext cx="2705548" cy="2705548"/>
              </a:xfrm>
              <a:prstGeom prst="rect">
                <a:avLst/>
              </a:prstGeom>
            </p:spPr>
          </p:pic>
        </p:grp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2CCA502-F39B-9AAB-FF49-0F8CCA050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704060">
              <a:off x="1965989" y="2301835"/>
              <a:ext cx="1259140" cy="1259140"/>
            </a:xfrm>
            <a:prstGeom prst="rect">
              <a:avLst/>
            </a:prstGeom>
          </p:spPr>
        </p:pic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29AF3C9A-4F9F-FA8F-97EB-F1DE76138E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90556" y="3281844"/>
            <a:ext cx="2055176" cy="2055176"/>
          </a:xfrm>
          <a:prstGeom prst="rect">
            <a:avLst/>
          </a:prstGeom>
        </p:spPr>
      </p:pic>
      <p:pic>
        <p:nvPicPr>
          <p:cNvPr id="17" name="Graphic 16" descr="Magnifying glass outline">
            <a:extLst>
              <a:ext uri="{FF2B5EF4-FFF2-40B4-BE49-F238E27FC236}">
                <a16:creationId xmlns:a16="http://schemas.microsoft.com/office/drawing/2014/main" id="{21EC601D-811A-815F-C78E-B8F82F1D9C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6082" y="2907686"/>
            <a:ext cx="2705547" cy="2705547"/>
          </a:xfrm>
          <a:prstGeom prst="rect">
            <a:avLst/>
          </a:prstGeom>
        </p:spPr>
      </p:pic>
      <p:pic>
        <p:nvPicPr>
          <p:cNvPr id="21" name="Graphic 20" descr="Chef male with solid fill">
            <a:extLst>
              <a:ext uri="{FF2B5EF4-FFF2-40B4-BE49-F238E27FC236}">
                <a16:creationId xmlns:a16="http://schemas.microsoft.com/office/drawing/2014/main" id="{00367D56-FB9E-9F28-850E-36296E6FA6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53080" y="3346059"/>
            <a:ext cx="914400" cy="914400"/>
          </a:xfrm>
          <a:prstGeom prst="rect">
            <a:avLst/>
          </a:prstGeom>
        </p:spPr>
      </p:pic>
      <p:pic>
        <p:nvPicPr>
          <p:cNvPr id="25" name="Graphic 24" descr="Robot outline">
            <a:extLst>
              <a:ext uri="{FF2B5EF4-FFF2-40B4-BE49-F238E27FC236}">
                <a16:creationId xmlns:a16="http://schemas.microsoft.com/office/drawing/2014/main" id="{FC7B86CF-FCA2-6316-1044-D6828ED3F7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34718" y="3095150"/>
            <a:ext cx="2135592" cy="213559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8060EB1-0008-979B-6EE2-5688C04E9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1540" y="-34562"/>
            <a:ext cx="2055176" cy="2055176"/>
          </a:xfrm>
          <a:prstGeom prst="rect">
            <a:avLst/>
          </a:prstGeom>
        </p:spPr>
      </p:pic>
      <p:pic>
        <p:nvPicPr>
          <p:cNvPr id="29" name="Graphic 28" descr="Magnifying glass with solid fill">
            <a:extLst>
              <a:ext uri="{FF2B5EF4-FFF2-40B4-BE49-F238E27FC236}">
                <a16:creationId xmlns:a16="http://schemas.microsoft.com/office/drawing/2014/main" id="{8CB962D8-FABF-E226-E9D4-7C2464AD6F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54113" y="-388671"/>
            <a:ext cx="2433301" cy="243330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C5DF0ED-BBBB-64AF-1EB1-ECDAC4CCFBF3}"/>
              </a:ext>
            </a:extLst>
          </p:cNvPr>
          <p:cNvSpPr txBox="1"/>
          <p:nvPr/>
        </p:nvSpPr>
        <p:spPr>
          <a:xfrm>
            <a:off x="966397" y="5196191"/>
            <a:ext cx="2220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rPr>
              <a:t>DNA</a:t>
            </a:r>
          </a:p>
          <a:p>
            <a:pPr algn="ctr"/>
            <a:r>
              <a:rPr lang="en-US" b="1" dirty="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rPr>
              <a:t>The books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09C6D-BBEC-0B57-6E10-E83C7156809B}"/>
              </a:ext>
            </a:extLst>
          </p:cNvPr>
          <p:cNvSpPr txBox="1"/>
          <p:nvPr/>
        </p:nvSpPr>
        <p:spPr>
          <a:xfrm>
            <a:off x="3407628" y="5196190"/>
            <a:ext cx="3522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rPr>
              <a:t>Gene</a:t>
            </a:r>
          </a:p>
          <a:p>
            <a:pPr algn="ctr"/>
            <a:r>
              <a:rPr lang="en-US" b="1" dirty="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rPr>
              <a:t>(A chapter with the recipe)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2DC5CD-CDD9-7242-5035-2561A79A4E30}"/>
              </a:ext>
            </a:extLst>
          </p:cNvPr>
          <p:cNvCxnSpPr/>
          <p:nvPr/>
        </p:nvCxnSpPr>
        <p:spPr>
          <a:xfrm>
            <a:off x="3327094" y="4350430"/>
            <a:ext cx="68304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A6B192-EA58-FDEE-D718-FA7B32999D1A}"/>
              </a:ext>
            </a:extLst>
          </p:cNvPr>
          <p:cNvCxnSpPr>
            <a:cxnSpLocks/>
          </p:cNvCxnSpPr>
          <p:nvPr/>
        </p:nvCxnSpPr>
        <p:spPr>
          <a:xfrm>
            <a:off x="6588691" y="4350430"/>
            <a:ext cx="1464639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4FB16C-775A-F9BB-18A3-38C9A1FC5E33}"/>
              </a:ext>
            </a:extLst>
          </p:cNvPr>
          <p:cNvSpPr txBox="1"/>
          <p:nvPr/>
        </p:nvSpPr>
        <p:spPr>
          <a:xfrm>
            <a:off x="7151422" y="5196190"/>
            <a:ext cx="3522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rPr>
              <a:t>Protein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8CDC58D-19BF-8FFD-CC9F-050E6B088BA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9026" y="115057"/>
            <a:ext cx="3811114" cy="381111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E4E3E14-FFA3-33E4-986B-158E1D0C5A3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712431" y="512861"/>
            <a:ext cx="3726156" cy="372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0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FAEE-0571-DBAB-F75D-0C4E9F99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1293C868-41BD-F4A8-DFF1-C41B4D21AD0F}"/>
              </a:ext>
            </a:extLst>
          </p:cNvPr>
          <p:cNvGrpSpPr/>
          <p:nvPr/>
        </p:nvGrpSpPr>
        <p:grpSpPr>
          <a:xfrm>
            <a:off x="574981" y="937104"/>
            <a:ext cx="11192292" cy="4240849"/>
            <a:chOff x="22702" y="937104"/>
            <a:chExt cx="11192292" cy="424084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C039AD0-310D-AB55-56BE-410B24231871}"/>
                </a:ext>
              </a:extLst>
            </p:cNvPr>
            <p:cNvGrpSpPr/>
            <p:nvPr/>
          </p:nvGrpSpPr>
          <p:grpSpPr>
            <a:xfrm>
              <a:off x="22702" y="965794"/>
              <a:ext cx="4275200" cy="4211770"/>
              <a:chOff x="365121" y="398505"/>
              <a:chExt cx="4275200" cy="4211770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3B1F797-ABF6-8C18-2018-9C19D4EF5612}"/>
                  </a:ext>
                </a:extLst>
              </p:cNvPr>
              <p:cNvSpPr txBox="1"/>
              <p:nvPr/>
            </p:nvSpPr>
            <p:spPr>
              <a:xfrm>
                <a:off x="689552" y="3304939"/>
                <a:ext cx="14084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Arimo" panose="020B0604020202020204" pitchFamily="34" charset="0"/>
                    <a:ea typeface="Arimo" panose="020B0604020202020204" pitchFamily="34" charset="0"/>
                    <a:cs typeface="Arimo" panose="020B0604020202020204" pitchFamily="34" charset="0"/>
                  </a:rPr>
                  <a:t>Parent 1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2AB526E-3C34-A0DD-D042-4EA212DA1DE0}"/>
                  </a:ext>
                </a:extLst>
              </p:cNvPr>
              <p:cNvGrpSpPr/>
              <p:nvPr/>
            </p:nvGrpSpPr>
            <p:grpSpPr>
              <a:xfrm>
                <a:off x="365121" y="1347190"/>
                <a:ext cx="4115235" cy="2081810"/>
                <a:chOff x="1520377" y="1032570"/>
                <a:chExt cx="4115235" cy="2081810"/>
              </a:xfrm>
            </p:grpSpPr>
            <p:pic>
              <p:nvPicPr>
                <p:cNvPr id="32" name="Graphic 31">
                  <a:extLst>
                    <a:ext uri="{FF2B5EF4-FFF2-40B4-BE49-F238E27FC236}">
                      <a16:creationId xmlns:a16="http://schemas.microsoft.com/office/drawing/2014/main" id="{3B86F2FE-FA07-8560-E45D-D08175E620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20377" y="1032570"/>
                  <a:ext cx="2055177" cy="2055177"/>
                </a:xfrm>
                <a:prstGeom prst="rect">
                  <a:avLst/>
                </a:prstGeom>
              </p:spPr>
            </p:pic>
            <p:pic>
              <p:nvPicPr>
                <p:cNvPr id="34" name="Graphic 33">
                  <a:extLst>
                    <a:ext uri="{FF2B5EF4-FFF2-40B4-BE49-F238E27FC236}">
                      <a16:creationId xmlns:a16="http://schemas.microsoft.com/office/drawing/2014/main" id="{11A48B8E-DE07-3ED8-2196-1CF1147F57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80435" y="1059203"/>
                  <a:ext cx="2055177" cy="2055177"/>
                </a:xfrm>
                <a:prstGeom prst="rect">
                  <a:avLst/>
                </a:prstGeom>
              </p:spPr>
            </p:pic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793C39-D498-9295-7E6F-B186F41093B8}"/>
                  </a:ext>
                </a:extLst>
              </p:cNvPr>
              <p:cNvSpPr txBox="1"/>
              <p:nvPr/>
            </p:nvSpPr>
            <p:spPr>
              <a:xfrm>
                <a:off x="444977" y="3686945"/>
                <a:ext cx="398062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u="sng" dirty="0">
                    <a:latin typeface="Arimo" panose="020B0604020202020204" pitchFamily="34" charset="0"/>
                    <a:ea typeface="Arimo" panose="020B0604020202020204" pitchFamily="34" charset="0"/>
                    <a:cs typeface="Arimo" panose="020B0604020202020204" pitchFamily="34" charset="0"/>
                  </a:rPr>
                  <a:t>DNA</a:t>
                </a:r>
              </a:p>
              <a:p>
                <a:pPr algn="ctr"/>
                <a:endParaRPr lang="en-US" sz="600" b="1" i="1" dirty="0">
                  <a:latin typeface="Arimo" panose="020B0604020202020204" pitchFamily="34" charset="0"/>
                  <a:ea typeface="Arimo" panose="020B0604020202020204" pitchFamily="34" charset="0"/>
                  <a:cs typeface="Arimo" panose="020B0604020202020204" pitchFamily="34" charset="0"/>
                </a:endParaRPr>
              </a:p>
              <a:p>
                <a:pPr algn="ctr"/>
                <a:r>
                  <a:rPr lang="en-US" b="1" i="1" dirty="0">
                    <a:latin typeface="Arimo" panose="020B0604020202020204" pitchFamily="34" charset="0"/>
                    <a:ea typeface="Arimo" panose="020B0604020202020204" pitchFamily="34" charset="0"/>
                    <a:cs typeface="Arimo" panose="020B0604020202020204" pitchFamily="34" charset="0"/>
                  </a:rPr>
                  <a:t>One set of books from each parent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FD6F17-813B-4A44-2DD5-2AD9553AFFB1}"/>
                  </a:ext>
                </a:extLst>
              </p:cNvPr>
              <p:cNvSpPr txBox="1"/>
              <p:nvPr/>
            </p:nvSpPr>
            <p:spPr>
              <a:xfrm>
                <a:off x="2420298" y="3307582"/>
                <a:ext cx="22200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Arimo" panose="020B0604020202020204" pitchFamily="34" charset="0"/>
                    <a:ea typeface="Arimo" panose="020B0604020202020204" pitchFamily="34" charset="0"/>
                    <a:cs typeface="Arimo" panose="020B0604020202020204" pitchFamily="34" charset="0"/>
                  </a:rPr>
                  <a:t>Parent 2</a:t>
                </a:r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C33A02DA-CB31-17C7-D9C4-21DACB496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2704060">
                <a:off x="2858613" y="398504"/>
                <a:ext cx="1188306" cy="1188307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D2B44F79-8F22-E81E-D079-F8FF2B4F0F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2704060">
                <a:off x="798554" y="398504"/>
                <a:ext cx="1188306" cy="1188307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BDBC1FE-EBDF-C561-F312-D943FBC8BFB4}"/>
                </a:ext>
              </a:extLst>
            </p:cNvPr>
            <p:cNvGrpSpPr/>
            <p:nvPr/>
          </p:nvGrpSpPr>
          <p:grpSpPr>
            <a:xfrm>
              <a:off x="4174301" y="937104"/>
              <a:ext cx="5146874" cy="4231588"/>
              <a:chOff x="3407628" y="1887932"/>
              <a:chExt cx="5146874" cy="4231588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E0CAD9AC-FC04-5CBF-B080-E0920C230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090556" y="3281844"/>
                <a:ext cx="2055176" cy="2055176"/>
              </a:xfrm>
              <a:prstGeom prst="rect">
                <a:avLst/>
              </a:prstGeom>
            </p:spPr>
          </p:pic>
          <p:pic>
            <p:nvPicPr>
              <p:cNvPr id="17" name="Graphic 16" descr="Magnifying glass outline">
                <a:extLst>
                  <a:ext uri="{FF2B5EF4-FFF2-40B4-BE49-F238E27FC236}">
                    <a16:creationId xmlns:a16="http://schemas.microsoft.com/office/drawing/2014/main" id="{E01D4E74-2607-1BC4-3F51-DD622AE58C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576082" y="2907686"/>
                <a:ext cx="2705547" cy="2705547"/>
              </a:xfrm>
              <a:prstGeom prst="rect">
                <a:avLst/>
              </a:prstGeom>
            </p:spPr>
          </p:pic>
          <p:pic>
            <p:nvPicPr>
              <p:cNvPr id="29" name="Graphic 28" descr="Magnifying glass with solid fill">
                <a:extLst>
                  <a:ext uri="{FF2B5EF4-FFF2-40B4-BE49-F238E27FC236}">
                    <a16:creationId xmlns:a16="http://schemas.microsoft.com/office/drawing/2014/main" id="{82C6417E-0970-776D-D399-D3F22657E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4566615" y="2923646"/>
                <a:ext cx="2699629" cy="2699629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C34FAE-AEA5-31B6-B286-7CA8A5979D8F}"/>
                  </a:ext>
                </a:extLst>
              </p:cNvPr>
              <p:cNvSpPr txBox="1"/>
              <p:nvPr/>
            </p:nvSpPr>
            <p:spPr>
              <a:xfrm>
                <a:off x="3407628" y="5196190"/>
                <a:ext cx="35225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u="sng" dirty="0">
                    <a:latin typeface="Arimo" panose="020B0604020202020204" pitchFamily="34" charset="0"/>
                    <a:ea typeface="Arimo" panose="020B0604020202020204" pitchFamily="34" charset="0"/>
                    <a:cs typeface="Arimo" panose="020B0604020202020204" pitchFamily="34" charset="0"/>
                  </a:rPr>
                  <a:t>Gene</a:t>
                </a:r>
              </a:p>
              <a:p>
                <a:pPr algn="ctr"/>
                <a:endParaRPr lang="en-US" sz="600" b="1" i="1" dirty="0">
                  <a:latin typeface="Arimo" panose="020B0604020202020204" pitchFamily="34" charset="0"/>
                  <a:ea typeface="Arimo" panose="020B0604020202020204" pitchFamily="34" charset="0"/>
                  <a:cs typeface="Arimo" panose="020B0604020202020204" pitchFamily="34" charset="0"/>
                </a:endParaRPr>
              </a:p>
              <a:p>
                <a:pPr algn="ctr"/>
                <a:r>
                  <a:rPr lang="en-US" b="1" i="1" dirty="0">
                    <a:latin typeface="Arimo" panose="020B0604020202020204" pitchFamily="34" charset="0"/>
                    <a:ea typeface="Arimo" panose="020B0604020202020204" pitchFamily="34" charset="0"/>
                    <a:cs typeface="Arimo" panose="020B0604020202020204" pitchFamily="34" charset="0"/>
                  </a:rPr>
                  <a:t>A chapter with a recipe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CA4D5B-E542-1BA9-2E3B-BE6FE20E8703}"/>
                  </a:ext>
                </a:extLst>
              </p:cNvPr>
              <p:cNvSpPr txBox="1"/>
              <p:nvPr/>
            </p:nvSpPr>
            <p:spPr>
              <a:xfrm>
                <a:off x="6630649" y="2232010"/>
                <a:ext cx="1294807" cy="160043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400" i="1" dirty="0" err="1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gctttctatt</a:t>
                </a:r>
                <a:r>
                  <a:rPr lang="en-US" sz="1400" i="1" dirty="0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 </a:t>
                </a:r>
                <a:r>
                  <a:rPr lang="en-US" sz="1400" i="1" dirty="0" err="1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caagtgcctt</a:t>
                </a:r>
                <a:r>
                  <a:rPr lang="en-US" sz="1400" i="1" dirty="0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 </a:t>
                </a:r>
                <a:r>
                  <a:rPr lang="en-US" sz="1400" i="1" dirty="0" err="1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ctgtgtgtgc</a:t>
                </a:r>
                <a:r>
                  <a:rPr lang="en-US" sz="1400" i="1" dirty="0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 </a:t>
                </a:r>
                <a:r>
                  <a:rPr lang="en-US" sz="1400" i="1" dirty="0" err="1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acatgtgtaa</a:t>
                </a:r>
                <a:r>
                  <a:rPr lang="en-US" sz="1400" i="1" dirty="0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 </a:t>
                </a:r>
                <a:r>
                  <a:rPr lang="en-US" sz="1400" i="1" dirty="0" err="1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tacatatctg</a:t>
                </a:r>
                <a:r>
                  <a:rPr lang="en-US" sz="1400" i="1" dirty="0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 </a:t>
                </a:r>
                <a:r>
                  <a:rPr lang="en-US" sz="1400" i="1" dirty="0" err="1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ggatcaaagc</a:t>
                </a:r>
                <a:endParaRPr lang="en-US" sz="1400" i="1" dirty="0">
                  <a:latin typeface="0xProto Nerd Font" panose="02000009000000000000" pitchFamily="49" charset="77"/>
                  <a:cs typeface="0xProto Nerd Font" panose="02000009000000000000" pitchFamily="49" charset="77"/>
                </a:endParaRPr>
              </a:p>
              <a:p>
                <a:r>
                  <a:rPr lang="en-US" sz="1400" i="1" dirty="0">
                    <a:latin typeface="0xProto Nerd Font" panose="02000009000000000000" pitchFamily="49" charset="77"/>
                    <a:cs typeface="0xProto Nerd Font" panose="02000009000000000000" pitchFamily="49" charset="77"/>
                  </a:rPr>
                  <a:t>…………………………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DFFD693-7A5C-6D8A-56F0-18EE0FB31D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41147" y="2238782"/>
                <a:ext cx="1389502" cy="104306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C487C36-22EF-1ED9-37AB-4D7A45C4DA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87787" y="3832448"/>
                <a:ext cx="1737669" cy="67567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22ED46-7820-1F74-A59F-C8E1EE17F967}"/>
                  </a:ext>
                </a:extLst>
              </p:cNvPr>
              <p:cNvSpPr txBox="1"/>
              <p:nvPr/>
            </p:nvSpPr>
            <p:spPr>
              <a:xfrm>
                <a:off x="6674249" y="1887932"/>
                <a:ext cx="188025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i="1" dirty="0">
                    <a:latin typeface="Arimo" panose="020B0604020202020204" pitchFamily="34" charset="0"/>
                    <a:ea typeface="Arimo" panose="020B0604020202020204" pitchFamily="34" charset="0"/>
                    <a:cs typeface="Arimo" panose="020B0604020202020204" pitchFamily="34" charset="0"/>
                  </a:rPr>
                  <a:t>The recipe</a:t>
                </a:r>
                <a:endParaRPr lang="en-US" sz="1600" dirty="0"/>
              </a:p>
            </p:txBody>
          </p:sp>
        </p:grp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99103886-7DF9-487C-075E-E529E88C52E8}"/>
                </a:ext>
              </a:extLst>
            </p:cNvPr>
            <p:cNvSpPr/>
            <p:nvPr/>
          </p:nvSpPr>
          <p:spPr>
            <a:xfrm rot="19359233">
              <a:off x="3418227" y="2074859"/>
              <a:ext cx="2143768" cy="2125358"/>
            </a:xfrm>
            <a:prstGeom prst="arc">
              <a:avLst>
                <a:gd name="adj1" fmla="val 16200000"/>
                <a:gd name="adj2" fmla="val 276789"/>
              </a:avLst>
            </a:prstGeom>
            <a:ln w="57150">
              <a:headEnd type="non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Graphic 42" descr="Chef male with solid fill">
              <a:extLst>
                <a:ext uri="{FF2B5EF4-FFF2-40B4-BE49-F238E27FC236}">
                  <a16:creationId xmlns:a16="http://schemas.microsoft.com/office/drawing/2014/main" id="{1851A9CB-27E0-F31D-9CB2-310CBAACD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139143" y="3556262"/>
              <a:ext cx="762562" cy="762562"/>
            </a:xfrm>
            <a:prstGeom prst="rect">
              <a:avLst/>
            </a:prstGeom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6EEE9F9-04D0-1884-3128-FE2ACE953082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94" y="3404577"/>
              <a:ext cx="149788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BD67E24-F131-0079-9BAE-58135F9BB265}"/>
                </a:ext>
              </a:extLst>
            </p:cNvPr>
            <p:cNvSpPr txBox="1"/>
            <p:nvPr/>
          </p:nvSpPr>
          <p:spPr>
            <a:xfrm>
              <a:off x="9161661" y="4254623"/>
              <a:ext cx="20533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u="sng" dirty="0">
                  <a:latin typeface="Arimo" panose="020B0604020202020204" pitchFamily="34" charset="0"/>
                  <a:ea typeface="Arimo" panose="020B0604020202020204" pitchFamily="34" charset="0"/>
                  <a:cs typeface="Arimo" panose="020B0604020202020204" pitchFamily="34" charset="0"/>
                </a:rPr>
                <a:t>Protein</a:t>
              </a:r>
            </a:p>
            <a:p>
              <a:pPr algn="ctr"/>
              <a:endParaRPr lang="en-US" sz="600" b="1" i="1" dirty="0"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endParaRPr>
            </a:p>
            <a:p>
              <a:pPr algn="ctr"/>
              <a:r>
                <a:rPr lang="en-US" b="1" i="1" dirty="0">
                  <a:latin typeface="Arimo" panose="020B0604020202020204" pitchFamily="34" charset="0"/>
                  <a:ea typeface="Arimo" panose="020B0604020202020204" pitchFamily="34" charset="0"/>
                  <a:cs typeface="Arimo" panose="020B0604020202020204" pitchFamily="34" charset="0"/>
                </a:rPr>
                <a:t>The final product</a:t>
              </a:r>
            </a:p>
          </p:txBody>
        </p:sp>
        <p:pic>
          <p:nvPicPr>
            <p:cNvPr id="48" name="Graphic 47" descr="Noodles with solid fill">
              <a:extLst>
                <a:ext uri="{FF2B5EF4-FFF2-40B4-BE49-F238E27FC236}">
                  <a16:creationId xmlns:a16="http://schemas.microsoft.com/office/drawing/2014/main" id="{0F067929-C62E-2AF3-ED12-F0ECBED27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387919" y="2294534"/>
              <a:ext cx="1713642" cy="1713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355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75</Words>
  <Application>Microsoft Macintosh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0xProto Nerd Font</vt:lpstr>
      <vt:lpstr>Aptos</vt:lpstr>
      <vt:lpstr>Aptos Display</vt:lpstr>
      <vt:lpstr>Arial</vt:lpstr>
      <vt:lpstr>Arimo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Yu, Joshua (MED)</dc:creator>
  <cp:lastModifiedBy>Yu, Joshua (MED)</cp:lastModifiedBy>
  <cp:revision>38</cp:revision>
  <dcterms:created xsi:type="dcterms:W3CDTF">2026-04-14T19:13:20Z</dcterms:created>
  <dcterms:modified xsi:type="dcterms:W3CDTF">2026-04-14T21:05:27Z</dcterms:modified>
</cp:coreProperties>
</file>